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rygada 1918" panose="020B0604020202020204" charset="0"/>
      <p:regular r:id="rId13"/>
    </p:embeddedFont>
    <p:embeddedFont>
      <p:font typeface="Brygada 1918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2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25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Google%20Chrome.lnk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hyperlink" Target="https://www.kaggle.com/datasets/mlg-ulb/creditcardfrau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100" y="42333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0681" y="24069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VeriTrust AI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853016"/>
            <a:ext cx="4722763" cy="200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Privacy‑First Adaptive Identity Trust Framework for Banking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PSB Hackathon Series 2026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Brygada 1918" pitchFamily="34" charset="0"/>
              <a:ea typeface="Brygada 1918" pitchFamily="34" charset="-122"/>
              <a:cs typeface="Brygada 1918" pitchFamily="34" charset="-120"/>
            </a:endParaRPr>
          </a:p>
          <a:p>
            <a:pPr>
              <a:lnSpc>
                <a:spcPct val="133000"/>
              </a:lnSpc>
            </a:pPr>
            <a:r>
              <a:rPr lang="en-IN" sz="1600" dirty="0">
                <a:latin typeface="Brygada 1918" panose="020B0604020202020204" charset="0"/>
              </a:rPr>
              <a:t>Team Name: AI Nexus</a:t>
            </a:r>
          </a:p>
          <a:p>
            <a:pPr>
              <a:lnSpc>
                <a:spcPct val="133000"/>
              </a:lnSpc>
            </a:pPr>
            <a:endParaRPr lang="en-IN" sz="1600" dirty="0">
              <a:latin typeface="Brygada 1918" panose="020B0604020202020204" charset="0"/>
            </a:endParaRPr>
          </a:p>
          <a:p>
            <a:pPr>
              <a:lnSpc>
                <a:spcPct val="133000"/>
              </a:lnSpc>
            </a:pPr>
            <a:r>
              <a:rPr lang="en-IN" sz="1600" dirty="0">
                <a:latin typeface="Brygada 1918" panose="020B0604020202020204" charset="0"/>
              </a:rPr>
              <a:t>Team Members: Somesh Kumar Singh(Team Leader)</a:t>
            </a:r>
          </a:p>
          <a:p>
            <a:pPr>
              <a:lnSpc>
                <a:spcPct val="133000"/>
              </a:lnSpc>
            </a:pPr>
            <a:r>
              <a:rPr lang="en-IN" sz="1600" dirty="0">
                <a:latin typeface="Brygada 1918" panose="020B0604020202020204" charset="0"/>
              </a:rPr>
              <a:t>Email:someshsingh2206@gmail.com</a:t>
            </a:r>
          </a:p>
          <a:p>
            <a:pPr>
              <a:lnSpc>
                <a:spcPct val="133000"/>
              </a:lnSpc>
            </a:pPr>
            <a:br>
              <a:rPr lang="en-IN" sz="1600" dirty="0"/>
            </a:br>
            <a:r>
              <a:rPr lang="en-IN" sz="1600" i="1" dirty="0">
                <a:latin typeface="Brygada 1918" panose="020B0604020202020204" charset="0"/>
              </a:rPr>
              <a:t>Continuous Identity Validation for Secure Digital Banking</a:t>
            </a:r>
            <a:endParaRPr lang="en-IN" sz="1600" dirty="0">
              <a:latin typeface="Brygada 1918" panose="020B0604020202020204" charset="0"/>
            </a:endParaRPr>
          </a:p>
          <a:p>
            <a:pPr>
              <a:lnSpc>
                <a:spcPct val="133000"/>
              </a:lnSpc>
            </a:pPr>
            <a:endParaRPr lang="en-US" sz="1600" dirty="0">
              <a:latin typeface="Brygada 1918" panose="020B0604020202020204" charset="0"/>
              <a:ea typeface="Brygada 1918" pitchFamily="34" charset="-122"/>
              <a:cs typeface="Brygada 1918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Brygada 1918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2491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942110"/>
            <a:ext cx="4815897" cy="1760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Digital Banking: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Threat Landscape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Takeover (ATO) through stolen credentials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KYC and onboarding fraud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account recovery attempts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misuse of customer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device and suspicious login risks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anomalies indicating compromised accounts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Limitation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occurs only at login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continuous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OTP usage causes poor user experience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411D6796-C298-F9B3-9C9C-F644DABE196A}"/>
              </a:ext>
            </a:extLst>
          </p:cNvPr>
          <p:cNvSpPr txBox="1"/>
          <p:nvPr/>
        </p:nvSpPr>
        <p:spPr>
          <a:xfrm>
            <a:off x="114300" y="203200"/>
            <a:ext cx="858520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–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VeriTrust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 Adaptive Identity Trust Framework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VeriTrust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continuously evaluates the trustworthiness of customers, employees, and devices across banking channels using real-time risk assessment.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Solution Highlights: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identity verification instead of one-time authentication.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Trust Score generated for every login, transaction, and account recovery request.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 to detect unusual user activities.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fingerprinting to identify trusted and suspicious devices.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Risk-based authentication that triggers OTP or additional verification only when necessary.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 monitoring for detecting misuse of privileged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fraud detection to prevent account takeover and KYC fraud.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 architecture with minimal data collection and secure processing.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64289A-46BC-9EE0-852D-4CDDB2C2D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336" y="4797417"/>
            <a:ext cx="1244664" cy="2857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2152" y="45828"/>
            <a:ext cx="479673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System architecture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Portal , Security Dashboard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Services-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Scoring Engine , Risk Scoring Engine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Trust Service 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 Engine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Service , Insider Threat Service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APIs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Kafka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ML Services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Score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Decision 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96119" y="240156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5E6F8-531D-3D8D-743C-0DDC35099340}"/>
              </a:ext>
            </a:extLst>
          </p:cNvPr>
          <p:cNvSpPr txBox="1"/>
          <p:nvPr/>
        </p:nvSpPr>
        <p:spPr>
          <a:xfrm>
            <a:off x="4756150" y="400188"/>
            <a:ext cx="421005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Customer/Employee</a:t>
            </a:r>
          </a:p>
          <a:p>
            <a:pPr algn="ctr"/>
            <a:r>
              <a:rPr lang="en-IN" sz="1000" dirty="0"/>
              <a:t>        │</a:t>
            </a:r>
          </a:p>
          <a:p>
            <a:pPr algn="ctr"/>
            <a:r>
              <a:rPr lang="en-IN" sz="1000" dirty="0"/>
              <a:t>        ▼</a:t>
            </a:r>
          </a:p>
          <a:p>
            <a:pPr algn="ctr"/>
            <a:r>
              <a:rPr lang="en-IN" sz="1000" dirty="0"/>
              <a:t> Banking Portal</a:t>
            </a:r>
          </a:p>
          <a:p>
            <a:pPr algn="ctr"/>
            <a:r>
              <a:rPr lang="en-IN" sz="1000" dirty="0"/>
              <a:t>        │</a:t>
            </a:r>
          </a:p>
          <a:p>
            <a:pPr algn="ctr"/>
            <a:r>
              <a:rPr lang="en-IN" sz="1000" dirty="0"/>
              <a:t>        ▼</a:t>
            </a:r>
          </a:p>
          <a:p>
            <a:pPr algn="ctr"/>
            <a:r>
              <a:rPr lang="en-IN" sz="1000" dirty="0" err="1"/>
              <a:t>VeriTrustAI</a:t>
            </a:r>
            <a:r>
              <a:rPr lang="en-IN" sz="1000" dirty="0"/>
              <a:t> Gateway</a:t>
            </a:r>
          </a:p>
          <a:p>
            <a:pPr algn="ctr"/>
            <a:r>
              <a:rPr lang="en-IN" sz="1000" dirty="0"/>
              <a:t>        │</a:t>
            </a:r>
          </a:p>
          <a:p>
            <a:pPr algn="ctr"/>
            <a:r>
              <a:rPr lang="en-IN" sz="1000" dirty="0"/>
              <a:t> ┌──────┼─────────┐</a:t>
            </a:r>
          </a:p>
          <a:p>
            <a:pPr algn="ctr"/>
            <a:r>
              <a:rPr lang="en-IN" sz="1000" dirty="0"/>
              <a:t> ▼      ▼         ▼</a:t>
            </a:r>
          </a:p>
          <a:p>
            <a:pPr algn="ctr"/>
            <a:r>
              <a:rPr lang="en-IN" sz="1000" dirty="0"/>
              <a:t>Device </a:t>
            </a:r>
            <a:r>
              <a:rPr lang="en-IN" sz="1000" dirty="0" err="1"/>
              <a:t>Behavior</a:t>
            </a:r>
            <a:r>
              <a:rPr lang="en-IN" sz="1000" dirty="0"/>
              <a:t> Fraud</a:t>
            </a:r>
          </a:p>
          <a:p>
            <a:pPr algn="ctr"/>
            <a:r>
              <a:rPr lang="en-IN" sz="1000" dirty="0"/>
              <a:t>Trust  Engine  Detection</a:t>
            </a:r>
          </a:p>
          <a:p>
            <a:pPr algn="ctr"/>
            <a:r>
              <a:rPr lang="en-IN" sz="1000" dirty="0"/>
              <a:t>        │</a:t>
            </a:r>
          </a:p>
          <a:p>
            <a:pPr algn="ctr"/>
            <a:r>
              <a:rPr lang="en-IN" sz="1000" dirty="0"/>
              <a:t>        ▼</a:t>
            </a:r>
          </a:p>
          <a:p>
            <a:pPr algn="ctr"/>
            <a:r>
              <a:rPr lang="en-IN" sz="1000" dirty="0"/>
              <a:t> Risk Scoring Engine</a:t>
            </a:r>
          </a:p>
          <a:p>
            <a:pPr algn="ctr"/>
            <a:r>
              <a:rPr lang="en-IN" sz="1000" dirty="0"/>
              <a:t>        │</a:t>
            </a:r>
          </a:p>
          <a:p>
            <a:pPr algn="ctr"/>
            <a:r>
              <a:rPr lang="en-IN" sz="1000" dirty="0"/>
              <a:t> ┌──────┼─────────┐</a:t>
            </a:r>
          </a:p>
          <a:p>
            <a:pPr algn="ctr"/>
            <a:r>
              <a:rPr lang="en-IN" sz="1000" dirty="0"/>
              <a:t> ▼      ▼         ▼</a:t>
            </a:r>
          </a:p>
          <a:p>
            <a:pPr algn="ctr"/>
            <a:r>
              <a:rPr lang="en-IN" sz="1000" dirty="0"/>
              <a:t>Allow OTP Face Verification</a:t>
            </a:r>
          </a:p>
          <a:p>
            <a:pPr algn="ctr"/>
            <a:r>
              <a:rPr lang="en-IN" sz="1000" dirty="0"/>
              <a:t>        │</a:t>
            </a:r>
          </a:p>
          <a:p>
            <a:pPr algn="ctr"/>
            <a:r>
              <a:rPr lang="en-IN" sz="1000" dirty="0"/>
              <a:t>        ▼</a:t>
            </a:r>
          </a:p>
          <a:p>
            <a:pPr algn="ctr"/>
            <a:r>
              <a:rPr lang="en-IN" sz="1000" dirty="0"/>
              <a:t> Banking Backend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F82699-A7B7-577B-46C7-EF26BBAD2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336" y="4797417"/>
            <a:ext cx="1244664" cy="285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353" y="84222"/>
            <a:ext cx="2973974" cy="453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Workflow</a:t>
            </a:r>
          </a:p>
          <a:p>
            <a:pPr>
              <a:lnSpc>
                <a:spcPct val="104000"/>
              </a:lnSpc>
            </a:pPr>
            <a:r>
              <a:rPr lang="en-US" sz="2400" dirty="0"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4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performs: Login , Transaction , Account Recovery </a:t>
            </a:r>
          </a:p>
          <a:p>
            <a:pPr>
              <a:lnSpc>
                <a:spcPct val="104000"/>
              </a:lnSpc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collects: Device Information, IP Address , Location, Browser Details,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22963" y="3218875"/>
            <a:ext cx="1136128" cy="267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endParaRPr lang="en-US" sz="95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8311EE-5FE4-C0DC-51DE-C513A1B51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057351"/>
              </p:ext>
            </p:extLst>
          </p:nvPr>
        </p:nvGraphicFramePr>
        <p:xfrm>
          <a:off x="858753" y="2438373"/>
          <a:ext cx="7886700" cy="182880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15026258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5469976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67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80-100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369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50-79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95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20-49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833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Below 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394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02D422F-5AF3-D9F6-6165-C36FFC65E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336" y="4797417"/>
            <a:ext cx="1244664" cy="285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21928"/>
            <a:ext cx="3159621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features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1722537"/>
            <a:ext cx="3934271" cy="22293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41590" y="1097831"/>
            <a:ext cx="1902768" cy="1675061"/>
          </a:xfrm>
          <a:prstGeom prst="roundRect">
            <a:avLst>
              <a:gd name="adj" fmla="val 12100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81414" y="1237655"/>
            <a:ext cx="162312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Device Trust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881414" y="1577504"/>
            <a:ext cx="162312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Trust scoring for endpoints, jailbreak/root detection, and provenance checks.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773094" y="1097831"/>
            <a:ext cx="1902768" cy="1675061"/>
          </a:xfrm>
          <a:prstGeom prst="roundRect">
            <a:avLst>
              <a:gd name="adj" fmla="val 12100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12918" y="1237655"/>
            <a:ext cx="162312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Behavioral Analytics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12918" y="1788616"/>
            <a:ext cx="162312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Continuous profiling: typing cadence, navigation patterns, transaction behavior.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41590" y="2901628"/>
            <a:ext cx="1902768" cy="1675061"/>
          </a:xfrm>
          <a:prstGeom prst="roundRect">
            <a:avLst>
              <a:gd name="adj" fmla="val 12100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81414" y="3041452"/>
            <a:ext cx="162312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81414" y="3381301"/>
            <a:ext cx="162312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Real‑time anomaly detection and rule enrichment to catch KYC and payment fraud.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773094" y="2901628"/>
            <a:ext cx="1902768" cy="1675061"/>
          </a:xfrm>
          <a:prstGeom prst="roundRect">
            <a:avLst>
              <a:gd name="adj" fmla="val 12100"/>
            </a:avLst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12918" y="3041452"/>
            <a:ext cx="162312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Insider Threat Detection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12918" y="3592413"/>
            <a:ext cx="162312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Baselines for privileged users, alerting on deviations and suspicious exports.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610E5A0-1FE8-985B-84E9-A0C3B9DEA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336" y="4797417"/>
            <a:ext cx="1244664" cy="285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838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AI &amp; data models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13734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Datasets used to train and validate models — representative, anonymized where required, and augmented for rare events: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6851" y="1945332"/>
            <a:ext cx="4552850" cy="2806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PaySim</a:t>
            </a: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dataset (simulated payments)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</a:rPr>
              <a:t>     (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hlinkClick r:id="rId3" action="ppaction://hlinkfile"/>
              </a:rPr>
              <a:t>https://www.kaggle.com/datasets/ealaxi/paysim1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</a:rPr>
              <a:t>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Credit Card Fraud dataset (transaction fraud patterns)</a:t>
            </a:r>
          </a:p>
          <a:p>
            <a:pPr>
              <a:lnSpc>
                <a:spcPct val="133000"/>
              </a:lnSpc>
              <a:buSzPct val="100000"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</a:rPr>
              <a:t>   (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hlinkClick r:id="rId4"/>
              </a:rPr>
              <a:t>https://www.kaggle.com/datasets/mlg-ulb/creditcardfraud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</a:rPr>
              <a:t>)</a:t>
            </a:r>
          </a:p>
          <a:p>
            <a:pPr>
              <a:lnSpc>
                <a:spcPct val="133000"/>
              </a:lnSpc>
              <a:buSzPct val="100000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Brygada 1918" panose="020B0604020202020204" charset="0"/>
              </a:rPr>
              <a:t>User </a:t>
            </a:r>
            <a:r>
              <a:rPr lang="en-IN" sz="1100" dirty="0" err="1">
                <a:latin typeface="Brygada 1918" panose="020B0604020202020204" charset="0"/>
              </a:rPr>
              <a:t>Behavior</a:t>
            </a:r>
            <a:r>
              <a:rPr lang="en-IN" sz="1100" dirty="0">
                <a:latin typeface="Brygada 1918" panose="020B0604020202020204" charset="0"/>
              </a:rPr>
              <a:t> &amp; Login Detection Dataset</a:t>
            </a:r>
          </a:p>
          <a:p>
            <a:pPr>
              <a:buNone/>
            </a:pPr>
            <a:r>
              <a:rPr lang="en-IN" sz="1100" dirty="0">
                <a:latin typeface="Brygada 1918" panose="020B0604020202020204" charset="0"/>
              </a:rPr>
              <a:t>Purpose:</a:t>
            </a:r>
          </a:p>
          <a:p>
            <a:pPr>
              <a:buNone/>
            </a:pPr>
            <a:r>
              <a:rPr lang="en-IN" sz="1100" dirty="0">
                <a:latin typeface="Brygada 1918" panose="020B0604020202020204" charset="0"/>
              </a:rPr>
              <a:t> </a:t>
            </a:r>
            <a:r>
              <a:rPr lang="en-IN" sz="1100" dirty="0" err="1">
                <a:latin typeface="Brygada 1918" panose="020B0604020202020204" charset="0"/>
              </a:rPr>
              <a:t>Behavioral</a:t>
            </a:r>
            <a:r>
              <a:rPr lang="en-IN" sz="1100" dirty="0">
                <a:latin typeface="Brygada 1918" panose="020B0604020202020204" charset="0"/>
              </a:rPr>
              <a:t> anomaly detection, suspicious logins, and identity trust scoring.</a:t>
            </a:r>
          </a:p>
          <a:p>
            <a:pPr>
              <a:buNone/>
            </a:pPr>
            <a:r>
              <a:rPr lang="en-IN" sz="1100" dirty="0">
                <a:latin typeface="Brygada 1918" panose="020B0604020202020204" charset="0"/>
              </a:rPr>
              <a:t>  (</a:t>
            </a:r>
            <a:r>
              <a:rPr lang="en-IN" sz="1100" dirty="0">
                <a:latin typeface="Brygada 1918" panose="020B0604020202020204" charset="0"/>
                <a:hlinkClick r:id="rId3" action="ppaction://hlinkfile"/>
              </a:rPr>
              <a:t>https://www.kaggle.com/datasets/iamsouravbanerjee/customer-       shopping-trends-dataset</a:t>
            </a:r>
            <a:r>
              <a:rPr lang="en-IN" sz="1100" dirty="0">
                <a:latin typeface="Brygada 1918" panose="020B0604020202020204" charset="0"/>
              </a:rPr>
              <a:t>)</a:t>
            </a:r>
          </a:p>
          <a:p>
            <a:pPr algn="l">
              <a:lnSpc>
                <a:spcPct val="133000"/>
              </a:lnSpc>
              <a:buSzPct val="100000"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13734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Modeling strategy: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701" y="1523628"/>
            <a:ext cx="354360" cy="35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81240" y="152362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Isolation Forest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81240" y="1886843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Unsupervised anomaly detection for novel behavior and device anomalies.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701" y="2623989"/>
            <a:ext cx="354360" cy="35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81240" y="26239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281240" y="2987204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Robust classification for labeled fraud cases and explainability needs.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9701" y="3724349"/>
            <a:ext cx="354360" cy="35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81240" y="372434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XGBoost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281240" y="4087564"/>
            <a:ext cx="337140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High-performance scoring for transaction risk with feature importance outputs</a:t>
            </a:r>
            <a:r>
              <a:rPr lang="en-US" sz="11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287D43-12A9-88A6-A7D7-64B084F88B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9336" y="4797417"/>
            <a:ext cx="1244664" cy="285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5465" y="366290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92696" y="103930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Platform layers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5781" y="1685999"/>
            <a:ext cx="2973809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n-US" sz="1100" b="1" dirty="0"/>
          </a:p>
        </p:txBody>
      </p:sp>
      <p:sp>
        <p:nvSpPr>
          <p:cNvPr id="5" name="Shape 3"/>
          <p:cNvSpPr/>
          <p:nvPr/>
        </p:nvSpPr>
        <p:spPr>
          <a:xfrm>
            <a:off x="692696" y="1720874"/>
            <a:ext cx="4752677" cy="2448223"/>
          </a:xfrm>
          <a:prstGeom prst="roundRect">
            <a:avLst>
              <a:gd name="adj" fmla="val 86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6369" y="1595065"/>
            <a:ext cx="4743152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68127" y="1684883"/>
            <a:ext cx="2068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528" y="1743087"/>
            <a:ext cx="30171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React.js, Tailwind CSS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6369" y="2001515"/>
            <a:ext cx="4743152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968127" y="2091333"/>
            <a:ext cx="2068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0047" y="2114686"/>
            <a:ext cx="30171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Spring Boot, Spring Security, JWT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6369" y="2407965"/>
            <a:ext cx="4743152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68127" y="2497782"/>
            <a:ext cx="2068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8180" y="2504045"/>
            <a:ext cx="30171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MongoDB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6369" y="2814414"/>
            <a:ext cx="4743152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68127" y="2904232"/>
            <a:ext cx="2068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AI/ML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00993" y="2903326"/>
            <a:ext cx="30171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Python, Scikit‑Learn, XGBoost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69492" y="3048347"/>
            <a:ext cx="4743152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68127" y="3310682"/>
            <a:ext cx="2068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61728" y="3288791"/>
            <a:ext cx="30171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Apache Kafka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6369" y="3627313"/>
            <a:ext cx="4743152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8127" y="3717131"/>
            <a:ext cx="2068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22685" y="3707991"/>
            <a:ext cx="301719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Docker, Kubernetes, </a:t>
            </a:r>
            <a:r>
              <a:rPr lang="en-US" sz="1100" dirty="0" err="1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Render,Vercel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1606" y="4197995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Designed for scalability, low latency, and secure orchestration of policy decisions.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BF04D30-1923-BB4D-A4D0-7580890F2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336" y="4797417"/>
            <a:ext cx="1244664" cy="2857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01" y="405854"/>
            <a:ext cx="3159621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Expected outcomes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72901" y="936873"/>
            <a:ext cx="303981" cy="303981"/>
          </a:xfrm>
          <a:prstGeom prst="roundRect">
            <a:avLst>
              <a:gd name="adj" fmla="val 66676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5619" y="983307"/>
            <a:ext cx="27804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Reduce account takeover incidents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05619" y="1271662"/>
            <a:ext cx="433647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Early detection of stolen credentials and session anomalies — fewer fraudulent logins.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72901" y="1951434"/>
            <a:ext cx="303981" cy="303981"/>
          </a:xfrm>
          <a:prstGeom prst="roundRect">
            <a:avLst>
              <a:gd name="adj" fmla="val 66676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619" y="199786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Prevent KYC fraud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5619" y="2286223"/>
            <a:ext cx="433647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Layered identity signals increase onboarding accuracy and reduce synthetic accounts.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2901" y="2965996"/>
            <a:ext cx="303981" cy="303981"/>
          </a:xfrm>
          <a:prstGeom prst="roundRect">
            <a:avLst>
              <a:gd name="adj" fmla="val 66676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5619" y="3012430"/>
            <a:ext cx="174203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Detect insider threats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05619" y="3300785"/>
            <a:ext cx="433647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Behavioral baselines for staff limit lateral movement and unauthorized access.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2901" y="3980557"/>
            <a:ext cx="303981" cy="303981"/>
          </a:xfrm>
          <a:prstGeom prst="roundRect">
            <a:avLst>
              <a:gd name="adj" fmla="val 66676"/>
            </a:avLst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619" y="4026991"/>
            <a:ext cx="20901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Improve digital trust &amp; UX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05619" y="4315346"/>
            <a:ext cx="433647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Adaptive friction keeps genuine customers moving while blocking risky actions.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59197"/>
            <a:ext cx="285869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Impact &amp; future scope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8066" y="1487016"/>
            <a:ext cx="511343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2947" y="874266"/>
            <a:ext cx="4656237" cy="56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Lower fraud losses through proactive, continuous detection</a:t>
            </a:r>
            <a:endParaRPr lang="en-US" sz="12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Better customer experience via risk‑based, minimal friction</a:t>
            </a:r>
            <a:endParaRPr lang="en-US" sz="12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Stronger regulatory posture with auditable policy decisions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4566" y="1899952"/>
            <a:ext cx="4656237" cy="8632"/>
          </a:xfrm>
          <a:prstGeom prst="rect">
            <a:avLst/>
          </a:prstGeom>
          <a:solidFill>
            <a:srgbClr val="403011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4566" y="2042852"/>
            <a:ext cx="511343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b="1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8516" y="2451584"/>
            <a:ext cx="4656237" cy="56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2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Deepfake detection for biometric and video verification</a:t>
            </a:r>
            <a:endParaRPr lang="en-US" sz="1200" dirty="0"/>
          </a:p>
          <a:p>
            <a:pPr marL="342900" indent="-34290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Graph‑based fraud analysis to surface coordinated rings</a:t>
            </a:r>
            <a:endParaRPr lang="en-US" sz="1200" dirty="0"/>
          </a:p>
          <a:p>
            <a:pPr marL="342900" indent="-34290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Federated learning to share models across institutions while preserving privacy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053" y="892746"/>
            <a:ext cx="3010495" cy="17059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40053" y="2703909"/>
            <a:ext cx="3010495" cy="198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100" dirty="0"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"Building continuous trust in digital banking"</a:t>
            </a:r>
            <a:endParaRPr lang="en-US" sz="3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665756-70F3-467F-1BBD-18F68F5EE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336" y="4797417"/>
            <a:ext cx="1244664" cy="2857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786</Words>
  <Application>Microsoft Office PowerPoint</Application>
  <PresentationFormat>On-screen Show (16:9)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Brygada 1918 SemiBold</vt:lpstr>
      <vt:lpstr>Arial</vt:lpstr>
      <vt:lpstr>Times New Roman</vt:lpstr>
      <vt:lpstr>Brygada 1918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Somesh</dc:creator>
  <cp:lastModifiedBy>Somesh Singh</cp:lastModifiedBy>
  <cp:revision>3</cp:revision>
  <dcterms:created xsi:type="dcterms:W3CDTF">2026-06-09T17:51:07Z</dcterms:created>
  <dcterms:modified xsi:type="dcterms:W3CDTF">2026-06-10T08:27:58Z</dcterms:modified>
</cp:coreProperties>
</file>